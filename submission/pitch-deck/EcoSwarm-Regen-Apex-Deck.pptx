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786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A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Hedera Apex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EcoSwarm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29443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milestone payouts for community climate projects on Hedera.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4023360"/>
            <a:ext cx="2331720" cy="310896"/>
          </a:xfrm>
          <a:prstGeom prst="rect">
            <a:avLst/>
          </a:prstGeom>
          <a:solidFill>
            <a:srgbClr val="C96F3D"/>
          </a:solidFill>
          <a:ln>
            <a:solidFill>
              <a:srgbClr val="C96F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3: Sustainability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82112" y="4023360"/>
            <a:ext cx="1965960" cy="310896"/>
          </a:xfrm>
          <a:prstGeom prst="rect">
            <a:avLst/>
          </a:prstGeom>
          <a:solidFill>
            <a:srgbClr val="214D3B"/>
          </a:solidFill>
          <a:ln>
            <a:solidFill>
              <a:srgbClr val="214D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HCS + HTS + A2A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4617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 dashboard. It is a payout operating system for sponsors, verifiers, and local operators.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877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wedge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13385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Results-based restoration and resilience funding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79792" y="21031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79792" y="2103120"/>
            <a:ext cx="3977640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2304288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Hedera usage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44384" y="2651760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HCS topic: 0.0.8316245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HTS tokens: 0.0.8316246, 0.0.8316247, 0.0.8316248, 0.0.8316249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79792" y="3310128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79792" y="3310128"/>
            <a:ext cx="3977640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3511296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public demo path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44384" y="3858768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https://olive-biol-interactions-combination.trycloudflare.com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card and chat are exposed publicly.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4517136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792" y="4517136"/>
            <a:ext cx="3977640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4718304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agent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44384" y="5065776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case operations, release actions, and machine-to-machine A2A surface.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Climate funding breaks between proof and payout.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often reaches local projects too late because sponsors, verifiers, and operators do not share one trusted workflow.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233172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331720"/>
            <a:ext cx="2633472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5328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Fragmented proof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2880360"/>
            <a:ext cx="23042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arrives in documents, chats, spreadsheets, and photo folders that sponsors cannot trust at release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4448" y="233172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2331720"/>
            <a:ext cx="2633472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5328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Slow sponsor release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2880360"/>
            <a:ext cx="23042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Funders hold capital longer because each milestone becomes a custom manual review exercise.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33172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331720"/>
            <a:ext cx="2633472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5328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Verifier bottlenecks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11112" y="2880360"/>
            <a:ext cx="23042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Verifiers operate off-platform, which creates more coordination overhead and less repeatability.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08592" y="233172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08592" y="2331720"/>
            <a:ext cx="2148840" cy="109728"/>
          </a:xfrm>
          <a:prstGeom prst="rect">
            <a:avLst/>
          </a:prstGeom>
          <a:solidFill>
            <a:srgbClr val="214D3B"/>
          </a:solidFill>
          <a:ln w="12700">
            <a:solidFill>
              <a:srgbClr val="214D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53288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auditability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73184" y="2880360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products report impact after the fact instead of helping release money with confidence.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864608"/>
            <a:ext cx="10716768" cy="822960"/>
          </a:xfrm>
          <a:prstGeom prst="roundRect">
            <a:avLst>
              <a:gd name="adj" fmla="val 7778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0235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result is slow funding, fragmented trust, and underfunded local climate action.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narrow: verified milestone payouts for community climate programs.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designed around one launch wedge instead of a generic sustainability marketplace.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07792" y="2395728"/>
            <a:ext cx="6263640" cy="1024128"/>
          </a:xfrm>
          <a:prstGeom prst="roundRect">
            <a:avLst>
              <a:gd name="adj" fmla="val 8036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273405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proof -&gt; payout memo -&gt; verifier review -&gt; sponsor authorization -&gt; tranche release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9319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3931920"/>
            <a:ext cx="3401568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1330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Reforestation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448056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Survival checkpoints, field verification, and staggered releases tied to proof completeness.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7408" y="39319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3931920"/>
            <a:ext cx="3401568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1330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River cleanup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48056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or CSR funds can release against verified collection, routing, and completion evidence.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8432" y="3931920"/>
            <a:ext cx="340156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28432" y="3931920"/>
            <a:ext cx="3401568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4133088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solar resilience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93024" y="448056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capital and follow-on release can be anchored to installation and service milestones.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" y="2395728"/>
            <a:ext cx="1664208" cy="310896"/>
          </a:xfrm>
          <a:prstGeom prst="rect">
            <a:avLst/>
          </a:prstGeom>
          <a:solidFill>
            <a:srgbClr val="C96F3D"/>
          </a:solidFill>
          <a:ln>
            <a:solidFill>
              <a:srgbClr val="C96F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Sponsor-ready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" y="2816352"/>
            <a:ext cx="1664208" cy="310896"/>
          </a:xfrm>
          <a:prstGeom prst="rect">
            <a:avLst/>
          </a:prstGeom>
          <a:solidFill>
            <a:srgbClr val="214D3B"/>
          </a:solidFill>
          <a:ln>
            <a:solidFill>
              <a:srgbClr val="214D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Proof-backed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" y="3236976"/>
            <a:ext cx="1664208" cy="310896"/>
          </a:xfrm>
          <a:prstGeom prst="rect">
            <a:avLst/>
          </a:prstGeom>
          <a:solidFill>
            <a:srgbClr val="6E8B60"/>
          </a:solidFill>
          <a:ln>
            <a:solidFill>
              <a:srgbClr val="6E8B6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finished multi-workspace product, not a one-page demo.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page is synchronized around the same payout case and the same Hedera-backed audit 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60320"/>
            <a:ext cx="1874520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8163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0976" y="3200400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Portfolio, platform signals, and the top release queue.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734056" y="3383280"/>
            <a:ext cx="201168" cy="347472"/>
          </a:xfrm>
          <a:prstGeom prst="chevron">
            <a:avLst/>
          </a:prstGeom>
          <a:solidFill>
            <a:srgbClr val="C8BDAA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56032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8F6F1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560320"/>
            <a:ext cx="1874520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28163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Room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91256" y="3200400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sponsor, verifier, and operator view for one milestone case.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974336" y="3383280"/>
            <a:ext cx="201168" cy="347472"/>
          </a:xfrm>
          <a:prstGeom prst="chevron">
            <a:avLst/>
          </a:prstGeom>
          <a:solidFill>
            <a:srgbClr val="C8BDAA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56032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2560320"/>
            <a:ext cx="1874520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8163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31536" y="3200400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Intake, release recommendations, and treasury actions.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214616" y="3383280"/>
            <a:ext cx="201168" cy="347472"/>
          </a:xfrm>
          <a:prstGeom prst="chevron">
            <a:avLst/>
          </a:prstGeom>
          <a:solidFill>
            <a:srgbClr val="C8BDAA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256032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8F6F1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2560320"/>
            <a:ext cx="1874520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71816" y="28163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Portal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71816" y="3200400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commitments, release alerts, and approval framing.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454896" y="3383280"/>
            <a:ext cx="201168" cy="347472"/>
          </a:xfrm>
          <a:prstGeom prst="chevron">
            <a:avLst/>
          </a:prstGeom>
          <a:solidFill>
            <a:srgbClr val="C8BDAA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56032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2560320"/>
            <a:ext cx="1874520" cy="109728"/>
          </a:xfrm>
          <a:prstGeom prst="rect">
            <a:avLst/>
          </a:prstGeom>
          <a:solidFill>
            <a:srgbClr val="214D3B"/>
          </a:solidFill>
          <a:ln w="12700">
            <a:solidFill>
              <a:srgbClr val="214D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28163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12096" y="3200400"/>
            <a:ext cx="1591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packets, readable event stages, and Hedera checkpoint history.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41248" y="4983480"/>
            <a:ext cx="2788920" cy="310896"/>
          </a:xfrm>
          <a:prstGeom prst="rect">
            <a:avLst/>
          </a:prstGeom>
          <a:solidFill>
            <a:srgbClr val="143A2C"/>
          </a:solidFill>
          <a:ln>
            <a:solidFill>
              <a:srgbClr val="143A2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workspace attached to live case state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0" y="4983480"/>
            <a:ext cx="2788920" cy="310896"/>
          </a:xfrm>
          <a:prstGeom prst="rect">
            <a:avLst/>
          </a:prstGeom>
          <a:solidFill>
            <a:srgbClr val="C96F3D"/>
          </a:solidFill>
          <a:ln>
            <a:solidFill>
              <a:srgbClr val="C96F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+ operator + verifier stay in sync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39712" y="4983480"/>
            <a:ext cx="2377440" cy="310896"/>
          </a:xfrm>
          <a:prstGeom prst="rect">
            <a:avLst/>
          </a:prstGeom>
          <a:solidFill>
            <a:srgbClr val="6E8B60"/>
          </a:solidFill>
          <a:ln>
            <a:solidFill>
              <a:srgbClr val="6E8B6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Treasury actions are repeatable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18320" y="4983480"/>
            <a:ext cx="1828800" cy="310896"/>
          </a:xfrm>
          <a:prstGeom prst="rect">
            <a:avLst/>
          </a:prstGeom>
          <a:solidFill>
            <a:srgbClr val="D8A44B"/>
          </a:solidFill>
          <a:ln>
            <a:solidFill>
              <a:srgbClr val="D8A44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stays visible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HEDERA FIT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Hedera is part of the operating model, not a logo on the last slide.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23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depends on many low-cost, ordered, repeatable state changes.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2304288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304288"/>
            <a:ext cx="2578608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054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HCS checkpoints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intake, payout memo creation, verification, authorization, and release are all cheap enough to anchor repeatedly.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304288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304288"/>
            <a:ext cx="2578608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25054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HTS-linked receipts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receipts map financial actions to environmental outcomes instead of stopping at internal status flags.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82512" y="2304288"/>
            <a:ext cx="2578608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2304288"/>
            <a:ext cx="2578608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50545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Low-fee recurrence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7104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case only works if updates can be frequent, auditable, and financially realistic.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98864" y="2304288"/>
            <a:ext cx="2176272" cy="1481328"/>
          </a:xfrm>
          <a:prstGeom prst="roundRect">
            <a:avLst>
              <a:gd name="adj" fmla="val 4938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98864" y="2304288"/>
            <a:ext cx="2176272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25054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surface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63456" y="285292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A2A endpoints and a public agent card make the operator layer machine-readable.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evidence from this build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" y="4553712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553712"/>
            <a:ext cx="3383280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HCS transactions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10235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0.0.8188944-1774108000-409892104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0.0.8188944-1774108013-270156893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07408" y="4553712"/>
            <a:ext cx="2852928" cy="1170432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07408" y="4553712"/>
            <a:ext cx="2852928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7548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HCS topic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510235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0.0.8316245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34656" y="4553712"/>
            <a:ext cx="3822192" cy="1170432"/>
          </a:xfrm>
          <a:prstGeom prst="roundRect">
            <a:avLst>
              <a:gd name="adj" fmla="val 6250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34656" y="4553712"/>
            <a:ext cx="3822192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47548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receipt token IDs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99248" y="510235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0.0.8316246, 0.0.8316247, 0.0.8316248, 0.0.8316249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flagship case. One release workflow. One audit line.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23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should only have to remember a single case moving end to end.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377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2322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Proof packet arrives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2560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submits a milestone-backed project with proof confidence and counterparties.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051560" y="2706624"/>
            <a:ext cx="0" cy="36576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54096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1272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072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Case Room synchronizes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Sponsor, verifier, and operator align around the same release packet and next action.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51560" y="3456432"/>
            <a:ext cx="0" cy="36576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03904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8770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3822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Agent dispatch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81328" y="4059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operator agent explains the case and triggers the next eligible operational step.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51560" y="4206240"/>
            <a:ext cx="0" cy="36576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553712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626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4572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Client release alert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81328" y="48097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sees a release-ready case instead of a generic analytics panel.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051560" y="4956048"/>
            <a:ext cx="0" cy="36576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303520"/>
            <a:ext cx="457200" cy="384048"/>
          </a:xfrm>
          <a:prstGeom prst="roundRect">
            <a:avLst>
              <a:gd name="adj" fmla="val 19048"/>
            </a:avLst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53766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81328" y="5321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Hedera audit trail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81328" y="55595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ends on visible Hedera-backed proof and treasury checkpoints.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537960" y="2450592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2450592"/>
            <a:ext cx="4663440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2651760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judges should see on screen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02552" y="299923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-&gt; Case Room -&gt; Agent Network -&gt; Blueprint -&gt; Client Portal -&gt; Audit Trail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3657600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3657600"/>
            <a:ext cx="4663440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3858768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judges should hear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02552" y="420624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release moves only when proof is visible, review is complete, and payout authorization is explicit.”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37960" y="4864608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37960" y="4864608"/>
            <a:ext cx="4663440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5065776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judges should remember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02552" y="541324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removes trust friction from milestone climate payouts instead of adding another reporting dashboard.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can launch because the buyer, verifier, and operator already exist.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replaces a broken release workflow instead of inventing a new abstract category.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359152"/>
            <a:ext cx="3401568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5603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907792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CSR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 funds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resilience programs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fewer manual release cycles, stronger auditability, and faster confidence to disburse.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359152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359152"/>
            <a:ext cx="3401568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603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2907792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Cooperatives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delivery partners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clearer milestone expectations, faster working-capital release, and less sponsor back-and-forth.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2359152"/>
            <a:ext cx="3401568" cy="219456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0144" y="2359152"/>
            <a:ext cx="3401568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25603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4736" y="2907792"/>
            <a:ext cx="30723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auditors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MRV providers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review groups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structured review queues, visible proof packets, and repeatable release checkpoints.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102352"/>
            <a:ext cx="9912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Repeat-use loop: more cases -&gt; more verification checkpoints -&gt; more release actions -&gt; more Hedera writes -&gt; stronger treasury data -&gt; better case ranking.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1064240" cy="0"/>
          </a:xfrm>
          <a:prstGeom prst="line">
            <a:avLst/>
          </a:prstGeom>
          <a:noFill/>
          <a:ln w="12700">
            <a:solidFill>
              <a:srgbClr val="C8BD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31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58368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next 90 days concrete.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792224"/>
            <a:ext cx="5852160" cy="4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strongest when pitched as a pilot-ready workflow, not a fully generalized climate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8096" y="2542032"/>
            <a:ext cx="5230368" cy="2880360"/>
          </a:xfrm>
          <a:prstGeom prst="roundRect">
            <a:avLst>
              <a:gd name="adj" fmla="val 2540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542032"/>
            <a:ext cx="5230368" cy="109728"/>
          </a:xfrm>
          <a:prstGeom prst="rect">
            <a:avLst/>
          </a:prstGeom>
          <a:solidFill>
            <a:srgbClr val="143A2C"/>
          </a:solidFill>
          <a:ln w="12700">
            <a:solidFill>
              <a:srgbClr val="143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74320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90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090672"/>
            <a:ext cx="490118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Pilot one wedge in one geography.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production proof upload and policy checks.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Add sponsor approval and recurring treasury deposit 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Onboard one verifier workflow and one operator class.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Keep the agent layer focused on triage, review, and release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542032"/>
            <a:ext cx="5230368" cy="2880360"/>
          </a:xfrm>
          <a:prstGeom prst="roundRect">
            <a:avLst>
              <a:gd name="adj" fmla="val 2540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542032"/>
            <a:ext cx="5230368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74320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6 months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3090672"/>
            <a:ext cx="490118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Launch first live funded case.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Add partner reporting and post-release monitoring.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Expand from one wedge to adjacent restoration and resilience programs.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Externalize agent-to-agent handoffs when there is real partner demand.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Turn repeat usage into a measurable Hedera growth story.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41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A4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Incubator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1243584"/>
            <a:ext cx="6400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want one operator, one verifier, and one sponsor class to prove faster trusted payouts for real community climate work.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2852928"/>
            <a:ext cx="3364992" cy="1572768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852928"/>
            <a:ext cx="3364992" cy="109728"/>
          </a:xfrm>
          <a:prstGeom prst="rect">
            <a:avLst/>
          </a:prstGeom>
          <a:solidFill>
            <a:srgbClr val="C96F3D"/>
          </a:solidFill>
          <a:ln w="12700">
            <a:solidFill>
              <a:srgbClr val="C96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540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partnerships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partners for deployment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now a product-development problem, not an ideation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852928"/>
            <a:ext cx="3364992" cy="1572768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2852928"/>
            <a:ext cx="3364992" cy="109728"/>
          </a:xfrm>
          <a:prstGeom prst="rect">
            <a:avLst/>
          </a:prstGeom>
          <a:solidFill>
            <a:srgbClr val="6E8B60"/>
          </a:solidFill>
          <a:ln w="12700">
            <a:solidFill>
              <a:srgbClr val="6E8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540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already proved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4015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multi-page 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Hedera topic +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A2A agent surface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sponsor / verifier / release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2852928"/>
            <a:ext cx="3364992" cy="1572768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12700">
            <a:solidFill>
              <a:srgbClr val="C8BDAA"/>
            </a:solidFill>
            <a:prstDash val="solid"/>
          </a:ln>
          <a:effectLst>
            <a:outerShdw sx="100000" sy="100000" kx="0" ky="0" algn="bl" rotWithShape="0" blurRad="12700" dist="50800" dir="2700000">
              <a:srgbClr val="C7BBA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2852928"/>
            <a:ext cx="3364992" cy="109728"/>
          </a:xfrm>
          <a:prstGeom prst="rect">
            <a:avLst/>
          </a:prstGeom>
          <a:solidFill>
            <a:srgbClr val="D8A44B"/>
          </a:solidFill>
          <a:ln w="12700">
            <a:solidFill>
              <a:srgbClr val="D8A4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0540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40156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already has climate programs, proof friction, and slow release cycles.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slots into that gap directly.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" y="5010912"/>
            <a:ext cx="2468880" cy="310896"/>
          </a:xfrm>
          <a:prstGeom prst="rect">
            <a:avLst/>
          </a:prstGeom>
          <a:solidFill>
            <a:srgbClr val="214D3B"/>
          </a:solidFill>
          <a:ln>
            <a:solidFill>
              <a:srgbClr val="214D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GitHub: Ecoswarm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5010912"/>
            <a:ext cx="3657600" cy="310896"/>
          </a:xfrm>
          <a:prstGeom prst="rect">
            <a:avLst/>
          </a:prstGeom>
          <a:solidFill>
            <a:srgbClr val="C96F3D"/>
          </a:solidFill>
          <a:ln>
            <a:solidFill>
              <a:srgbClr val="C96F3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backend: trycloudflare demo path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70064" y="5010912"/>
            <a:ext cx="2999232" cy="310896"/>
          </a:xfrm>
          <a:prstGeom prst="rect">
            <a:avLst/>
          </a:prstGeom>
          <a:solidFill>
            <a:srgbClr val="6E8B60"/>
          </a:solidFill>
          <a:ln>
            <a:solidFill>
              <a:srgbClr val="6E8B6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 path: code-ready, broker-blocked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" y="5742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EcoSwarm Regen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59984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Hedera-native verified milestone payouts for climate programs.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6236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EcoSwarm Regen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EcoSwarm Regen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EcoSwarm Regen - Apex Sustainability Submission</dc:title>
  <dc:subject>Hedera Hello Future Apex Hackathon 2026</dc:subject>
  <dc:creator>OpenAI Codex</dc:creator>
  <cp:lastModifiedBy>OpenAI Codex</cp:lastModifiedBy>
  <cp:revision>1</cp:revision>
  <dcterms:created xsi:type="dcterms:W3CDTF">2026-03-21T17:09:32Z</dcterms:created>
  <dcterms:modified xsi:type="dcterms:W3CDTF">2026-03-21T17:09:32Z</dcterms:modified>
</cp:coreProperties>
</file>